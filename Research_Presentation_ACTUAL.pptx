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69214"/>
                </a:solidFill>
              </a:defRPr>
            </a:pPr>
            <a:r>
              <a:t>Data Management for Smart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3565A"/>
                </a:solidFill>
              </a:defRPr>
            </a:pPr>
            <a:r>
              <a:t>BigQuery-Based Infrastructure for Road Condition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Colleen Li • Aadit Khurana • Tran Le Ngoc 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Mentors: Nikkhil Vijaya Sankar, Mohammad Reza Jahanshahi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674" y="6217920"/>
            <a:ext cx="41566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3565A"/>
                </a:solidFill>
              </a:defRPr>
            </a:pPr>
            <a:r>
              <a:rPr dirty="0"/>
              <a:t>VIP Program | Purdue University | November </a:t>
            </a:r>
            <a:r>
              <a:rPr dirty="0" smtClean="0"/>
              <a:t>1</a:t>
            </a:r>
            <a:r>
              <a:rPr lang="en-US" dirty="0" smtClean="0"/>
              <a:t>8</a:t>
            </a:r>
            <a:r>
              <a:rPr dirty="0" smtClean="0"/>
              <a:t>, </a:t>
            </a:r>
            <a:r>
              <a:rPr dirty="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rPr dirty="0"/>
              <a:t>The Problem: Managing </a:t>
            </a:r>
            <a:r>
              <a:rPr dirty="0" smtClean="0"/>
              <a:t>Massive </a:t>
            </a:r>
            <a:r>
              <a:rPr dirty="0"/>
              <a:t>Road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7958"/>
            <a:ext cx="82296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rPr sz="2400" dirty="0"/>
              <a:t>Challenge: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 smtClean="0"/>
              <a:t>- </a:t>
            </a:r>
            <a:r>
              <a:rPr sz="2400" dirty="0" smtClean="0"/>
              <a:t>Computer </a:t>
            </a:r>
            <a:r>
              <a:rPr sz="2400" dirty="0"/>
              <a:t>vision for road detection generates massive data volumes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 smtClean="0"/>
              <a:t>- </a:t>
            </a:r>
            <a:r>
              <a:rPr sz="2400" dirty="0" smtClean="0"/>
              <a:t>Our </a:t>
            </a:r>
            <a:r>
              <a:rPr sz="2400" dirty="0"/>
              <a:t>project: 2.9 million images with 2 million classifications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 smtClean="0"/>
              <a:t>- </a:t>
            </a:r>
            <a:r>
              <a:rPr sz="2400" dirty="0" smtClean="0"/>
              <a:t>Data </a:t>
            </a:r>
            <a:r>
              <a:rPr sz="2400" dirty="0"/>
              <a:t>spread across 2,624 road segments in Fort Wayne, IN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 smtClean="0"/>
              <a:t>- </a:t>
            </a:r>
            <a:r>
              <a:rPr sz="2400" dirty="0" smtClean="0"/>
              <a:t>Need </a:t>
            </a:r>
            <a:r>
              <a:rPr sz="2400" dirty="0"/>
              <a:t>to efficiently store, query, and visualize relationships: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/>
              <a:t>  segments → drives → cameras → images → classifications</a:t>
            </a:r>
          </a:p>
          <a:p>
            <a:r>
              <a:rPr sz="2400" dirty="0"/>
              <a:t/>
            </a:r>
            <a:br>
              <a:rPr sz="2400" dirty="0"/>
            </a:br>
            <a:r>
              <a:rPr lang="en-US" sz="2400" dirty="0" smtClean="0"/>
              <a:t> </a:t>
            </a:r>
            <a:r>
              <a:rPr lang="en-US" sz="2400" b="1" dirty="0"/>
              <a:t>→</a:t>
            </a:r>
            <a:r>
              <a:rPr lang="en-US" sz="2400" dirty="0"/>
              <a:t> </a:t>
            </a:r>
            <a:r>
              <a:rPr sz="2400" b="1" dirty="0" smtClean="0"/>
              <a:t>How </a:t>
            </a:r>
            <a:r>
              <a:rPr sz="2400" b="1" dirty="0"/>
              <a:t>do we manage this at scale while enabling ML workflows?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rPr dirty="0"/>
              <a:t>Our Solution: Cloud Data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280" y="1371600"/>
            <a:ext cx="8097520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70AD47"/>
                </a:solidFill>
              </a:defRPr>
            </a:pPr>
            <a:r>
              <a:rPr sz="2400" dirty="0"/>
              <a:t>Technology Stack:</a:t>
            </a:r>
          </a:p>
          <a:p>
            <a:pPr>
              <a:spcAft>
                <a:spcPts val="1000"/>
              </a:spcAft>
              <a:defRPr sz="1600"/>
            </a:pPr>
            <a:r>
              <a:rPr sz="2400" dirty="0"/>
              <a:t>• Google Cloud </a:t>
            </a:r>
            <a:r>
              <a:rPr sz="2400" dirty="0" err="1"/>
              <a:t>BigQuery</a:t>
            </a:r>
            <a:r>
              <a:rPr sz="2400" dirty="0"/>
              <a:t>: Cloud-native data warehouse, columnar storage, built-in optimization</a:t>
            </a:r>
          </a:p>
          <a:p>
            <a:pPr>
              <a:spcAft>
                <a:spcPts val="1000"/>
              </a:spcAft>
              <a:defRPr sz="1600"/>
            </a:pPr>
            <a:r>
              <a:rPr sz="2400" dirty="0"/>
              <a:t>• Python ETL Pipeline: Process 315 MB JSON files → normalized schema</a:t>
            </a:r>
          </a:p>
          <a:p>
            <a:pPr>
              <a:spcAft>
                <a:spcPts val="1000"/>
              </a:spcAft>
              <a:defRPr sz="1600"/>
            </a:pPr>
            <a:r>
              <a:rPr sz="2400" dirty="0"/>
              <a:t>• 7 Relational Tables: segments, drives, cameras, images, </a:t>
            </a:r>
            <a:r>
              <a:rPr sz="2400" dirty="0" err="1"/>
              <a:t>camera_images</a:t>
            </a:r>
            <a:r>
              <a:rPr sz="2400" dirty="0"/>
              <a:t>, categories, </a:t>
            </a:r>
            <a:r>
              <a:rPr sz="2400" dirty="0" err="1"/>
              <a:t>image_categories</a:t>
            </a:r>
            <a:endParaRPr sz="2400" dirty="0"/>
          </a:p>
          <a:p>
            <a:pPr>
              <a:spcAft>
                <a:spcPts val="1000"/>
              </a:spcAft>
              <a:defRPr sz="1600"/>
            </a:pPr>
            <a:r>
              <a:rPr sz="2400" dirty="0"/>
              <a:t>• </a:t>
            </a:r>
            <a:r>
              <a:rPr sz="2400" dirty="0" err="1"/>
              <a:t>Streamlit</a:t>
            </a:r>
            <a:r>
              <a:rPr sz="2400" dirty="0"/>
              <a:t> Dashboard: Interactive web app with </a:t>
            </a:r>
            <a:r>
              <a:rPr lang="en-US" sz="2400" dirty="0" smtClean="0"/>
              <a:t>Tableau</a:t>
            </a:r>
            <a:r>
              <a:rPr sz="2400" dirty="0" smtClean="0"/>
              <a:t> </a:t>
            </a:r>
            <a:r>
              <a:rPr sz="2400" dirty="0"/>
              <a:t>embedding</a:t>
            </a:r>
          </a:p>
          <a:p>
            <a:pPr>
              <a:spcAft>
                <a:spcPts val="1000"/>
              </a:spcAft>
              <a:defRPr sz="1600"/>
            </a:pPr>
            <a:r>
              <a:rPr sz="2400" dirty="0"/>
              <a:t>• Folium </a:t>
            </a:r>
            <a:r>
              <a:rPr sz="2400" dirty="0" err="1"/>
              <a:t>Heatmap</a:t>
            </a:r>
            <a:r>
              <a:rPr sz="2400" dirty="0"/>
              <a:t>: Geospatial visualization using Fort Wayne </a:t>
            </a:r>
            <a:r>
              <a:rPr sz="2400" dirty="0" err="1"/>
              <a:t>shapefiles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3565A"/>
                </a:solidFill>
              </a:defRPr>
            </a:pPr>
            <a:r>
              <a:t>[Insert: actual_visuals/actual_architecture.png]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24" y="1175288"/>
            <a:ext cx="7915755" cy="5682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rPr dirty="0"/>
              <a:t>ETL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371600"/>
            <a:ext cx="3840480" cy="45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/>
            </a:pPr>
            <a:r>
              <a:rPr sz="2400" dirty="0"/>
              <a:t>Input Data:</a:t>
            </a:r>
          </a:p>
          <a:p>
            <a:pPr>
              <a:spcAft>
                <a:spcPts val="600"/>
              </a:spcAft>
              <a:defRPr sz="1500"/>
            </a:pPr>
            <a:r>
              <a:rPr lang="en-US" sz="2400" dirty="0" smtClean="0"/>
              <a:t>- </a:t>
            </a:r>
            <a:r>
              <a:rPr sz="2400" dirty="0" smtClean="0"/>
              <a:t>4 </a:t>
            </a:r>
            <a:r>
              <a:rPr sz="2400" dirty="0"/>
              <a:t>JSON files (315 MB total)</a:t>
            </a:r>
          </a:p>
          <a:p>
            <a:pPr>
              <a:spcAft>
                <a:spcPts val="600"/>
              </a:spcAft>
              <a:defRPr sz="1500"/>
            </a:pPr>
            <a:r>
              <a:rPr lang="en-US" sz="2400" dirty="0" smtClean="0"/>
              <a:t>f</a:t>
            </a:r>
            <a:r>
              <a:rPr sz="2400" dirty="0" smtClean="0"/>
              <a:t>rom </a:t>
            </a:r>
            <a:r>
              <a:rPr sz="2400" dirty="0" err="1"/>
              <a:t>Classification_Swin</a:t>
            </a:r>
            <a:r>
              <a:rPr sz="2400" dirty="0"/>
              <a:t> model</a:t>
            </a:r>
          </a:p>
          <a:p>
            <a:pPr>
              <a:spcAft>
                <a:spcPts val="600"/>
              </a:spcAft>
              <a:defRPr sz="1500"/>
            </a:pPr>
            <a:r>
              <a:rPr lang="en-US" sz="2400" dirty="0" smtClean="0"/>
              <a:t> - </a:t>
            </a:r>
            <a:r>
              <a:rPr sz="2400" dirty="0" smtClean="0"/>
              <a:t>2.9M </a:t>
            </a:r>
            <a:r>
              <a:rPr sz="2400" dirty="0"/>
              <a:t>images (color + depth)</a:t>
            </a:r>
          </a:p>
          <a:p>
            <a:pPr>
              <a:spcAft>
                <a:spcPts val="600"/>
              </a:spcAft>
              <a:defRPr sz="1500"/>
            </a:pPr>
            <a:r>
              <a:rPr lang="en-US" sz="2400" dirty="0" smtClean="0"/>
              <a:t>- </a:t>
            </a:r>
            <a:r>
              <a:rPr sz="2400" dirty="0" smtClean="0"/>
              <a:t>8 </a:t>
            </a:r>
            <a:r>
              <a:rPr sz="2400" dirty="0"/>
              <a:t>classification </a:t>
            </a:r>
            <a:r>
              <a:rPr sz="2400" dirty="0" smtClean="0"/>
              <a:t>categories:</a:t>
            </a:r>
            <a:r>
              <a:rPr lang="en-US" sz="2400" dirty="0" smtClean="0"/>
              <a:t> </a:t>
            </a:r>
            <a:r>
              <a:rPr sz="2400" dirty="0" smtClean="0"/>
              <a:t>Alligator</a:t>
            </a:r>
            <a:r>
              <a:rPr sz="2400" dirty="0"/>
              <a:t>, </a:t>
            </a:r>
            <a:r>
              <a:rPr sz="2400" dirty="0" smtClean="0"/>
              <a:t>Health,</a:t>
            </a:r>
            <a:r>
              <a:rPr lang="en-US" sz="2400" dirty="0" smtClean="0"/>
              <a:t> </a:t>
            </a:r>
            <a:r>
              <a:rPr sz="2400" dirty="0" smtClean="0"/>
              <a:t>Longitudinal,</a:t>
            </a:r>
            <a:r>
              <a:rPr lang="en-US" sz="2400" dirty="0" smtClean="0"/>
              <a:t> </a:t>
            </a:r>
            <a:r>
              <a:rPr sz="2400" dirty="0" smtClean="0"/>
              <a:t>Manhole,</a:t>
            </a:r>
            <a:r>
              <a:rPr lang="en-US" sz="2400" dirty="0" smtClean="0"/>
              <a:t> </a:t>
            </a:r>
            <a:r>
              <a:rPr sz="2400" dirty="0" err="1" smtClean="0"/>
              <a:t>Openjoint</a:t>
            </a:r>
            <a:r>
              <a:rPr sz="2400" dirty="0"/>
              <a:t>, SD, </a:t>
            </a:r>
            <a:r>
              <a:rPr sz="2400" dirty="0" smtClean="0"/>
              <a:t>Sealed,</a:t>
            </a:r>
            <a:r>
              <a:rPr lang="en-US" sz="2400" dirty="0" smtClean="0"/>
              <a:t> </a:t>
            </a:r>
            <a:r>
              <a:rPr sz="2400" dirty="0" smtClean="0"/>
              <a:t>Transverse</a:t>
            </a:r>
            <a:endParaRPr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575851" cy="45294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0AD47"/>
                </a:solidFill>
              </a:defRPr>
            </a:pPr>
            <a:r>
              <a:rPr sz="2400" dirty="0"/>
              <a:t>Processing Steps: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1. Load JSON files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2. Generate consistent IDs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   (hash-based across files)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3. Extract timestamps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   from image filenames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4. Build relationships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5. Validate schema</a:t>
            </a:r>
          </a:p>
          <a:p>
            <a:pPr>
              <a:spcAft>
                <a:spcPts val="600"/>
              </a:spcAft>
              <a:defRPr sz="1500"/>
            </a:pPr>
            <a:r>
              <a:rPr sz="2400" dirty="0"/>
              <a:t>6. Upload to </a:t>
            </a:r>
            <a:r>
              <a:rPr sz="2400" dirty="0" err="1" smtClean="0"/>
              <a:t>BigQuery</a:t>
            </a:r>
            <a:endParaRPr sz="2400" dirty="0"/>
          </a:p>
          <a:p>
            <a:pPr>
              <a:spcAft>
                <a:spcPts val="600"/>
              </a:spcAft>
              <a:defRPr sz="1500"/>
            </a:pPr>
            <a:r>
              <a:rPr sz="2400" b="1" dirty="0"/>
              <a:t>Result: </a:t>
            </a:r>
            <a:r>
              <a:rPr sz="2400" dirty="0"/>
              <a:t>7 normalized tables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t>Results: Data Volumes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3565A"/>
                </a:solidFill>
              </a:defRPr>
            </a:pPr>
            <a:r>
              <a:t>[Insert: actual_visuals/data_volume.png]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2400"/>
            <a:ext cx="762000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70AD47"/>
                </a:solidFill>
              </a:defRPr>
            </a:pPr>
            <a:r>
              <a:rPr dirty="0"/>
              <a:t>Key Metrics:</a:t>
            </a:r>
          </a:p>
          <a:p>
            <a:pPr>
              <a:spcAft>
                <a:spcPts val="600"/>
              </a:spcAft>
              <a:defRPr sz="1500" b="1"/>
            </a:pPr>
            <a:r>
              <a:rPr dirty="0"/>
              <a:t>✓ 2,862,839 total images </a:t>
            </a:r>
            <a:r>
              <a:rPr dirty="0" smtClean="0"/>
              <a:t>processed</a:t>
            </a:r>
            <a:r>
              <a:rPr lang="en-US" dirty="0" smtClean="0"/>
              <a:t>  			</a:t>
            </a:r>
            <a:r>
              <a:rPr dirty="0" smtClean="0"/>
              <a:t>✓ </a:t>
            </a:r>
            <a:r>
              <a:rPr dirty="0"/>
              <a:t>2,037,930 classifications </a:t>
            </a:r>
            <a:r>
              <a:rPr dirty="0" smtClean="0"/>
              <a:t>generated</a:t>
            </a:r>
            <a:endParaRPr lang="en-US" dirty="0" smtClean="0"/>
          </a:p>
          <a:p>
            <a:pPr>
              <a:spcAft>
                <a:spcPts val="600"/>
              </a:spcAft>
              <a:defRPr sz="1500" b="1"/>
            </a:pPr>
            <a:r>
              <a:rPr dirty="0" smtClean="0"/>
              <a:t>✓ </a:t>
            </a:r>
            <a:r>
              <a:rPr dirty="0"/>
              <a:t>2,624 road segments across Fort </a:t>
            </a:r>
            <a:r>
              <a:rPr dirty="0" smtClean="0"/>
              <a:t>Wayne</a:t>
            </a:r>
            <a:r>
              <a:rPr lang="en-US" dirty="0" smtClean="0"/>
              <a:t> 		</a:t>
            </a:r>
            <a:r>
              <a:rPr dirty="0" smtClean="0"/>
              <a:t>✓ </a:t>
            </a:r>
            <a:r>
              <a:rPr dirty="0"/>
              <a:t>3,557 driving sessions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35" y="1417638"/>
            <a:ext cx="8325965" cy="35158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t>Query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3565A"/>
                </a:solidFill>
              </a:defRPr>
            </a:pPr>
            <a:r>
              <a:t>[Insert: actual_visuals/query_performance.png]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78314"/>
            <a:ext cx="8956298" cy="1041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rPr dirty="0" err="1"/>
              <a:t>BigQuery</a:t>
            </a:r>
            <a:r>
              <a:rPr dirty="0"/>
              <a:t> Performance:</a:t>
            </a:r>
          </a:p>
          <a:p>
            <a:pPr>
              <a:spcAft>
                <a:spcPts val="600"/>
              </a:spcAft>
              <a:defRPr sz="1600"/>
            </a:pPr>
            <a:r>
              <a:rPr dirty="0"/>
              <a:t>• Simple queries: &lt;</a:t>
            </a:r>
            <a:r>
              <a:rPr dirty="0" smtClean="0"/>
              <a:t>0.5s</a:t>
            </a:r>
            <a:r>
              <a:rPr lang="en-US" dirty="0" smtClean="0"/>
              <a:t>				</a:t>
            </a:r>
            <a:r>
              <a:rPr lang="fr-FR" dirty="0" smtClean="0"/>
              <a:t>• </a:t>
            </a:r>
            <a:r>
              <a:rPr lang="fr-FR" dirty="0" err="1"/>
              <a:t>Maintains</a:t>
            </a:r>
            <a:r>
              <a:rPr lang="fr-FR" dirty="0"/>
              <a:t> performance at </a:t>
            </a:r>
            <a:r>
              <a:rPr lang="fr-FR" dirty="0" err="1"/>
              <a:t>scale</a:t>
            </a:r>
            <a:r>
              <a:rPr lang="fr-FR" dirty="0"/>
              <a:t> (2.9M images</a:t>
            </a:r>
            <a:r>
              <a:rPr lang="fr-FR" dirty="0" smtClean="0"/>
              <a:t>)</a:t>
            </a:r>
            <a:r>
              <a:rPr lang="en-US" dirty="0" smtClean="0"/>
              <a:t>			</a:t>
            </a:r>
          </a:p>
          <a:p>
            <a:pPr>
              <a:spcAft>
                <a:spcPts val="600"/>
              </a:spcAft>
              <a:defRPr sz="1600"/>
            </a:pPr>
            <a:r>
              <a:rPr dirty="0" smtClean="0"/>
              <a:t>• Complex 6-way JOINs: &lt;5s</a:t>
            </a:r>
            <a:r>
              <a:rPr lang="en-US" dirty="0" smtClean="0"/>
              <a:t>			</a:t>
            </a:r>
            <a:r>
              <a:rPr dirty="0" smtClean="0"/>
              <a:t>• </a:t>
            </a:r>
            <a:r>
              <a:rPr dirty="0"/>
              <a:t>Columnar storage optimizes analytics </a:t>
            </a:r>
            <a:r>
              <a:rPr dirty="0" smtClean="0"/>
              <a:t>workloads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1291182"/>
            <a:ext cx="7437120" cy="4006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t>Interactive Visualization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650" y="1371600"/>
            <a:ext cx="601869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</a:defRPr>
            </a:pPr>
            <a:r>
              <a:rPr dirty="0"/>
              <a:t>[INSERT YOUR </a:t>
            </a:r>
            <a:r>
              <a:rPr dirty="0" smtClean="0"/>
              <a:t>STREAMLIT </a:t>
            </a:r>
            <a:r>
              <a:rPr dirty="0"/>
              <a:t>DASHBOARD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2275" y="5669280"/>
            <a:ext cx="64194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dirty="0"/>
              <a:t>Features: Folium </a:t>
            </a:r>
            <a:r>
              <a:rPr dirty="0" err="1"/>
              <a:t>heatmap</a:t>
            </a:r>
            <a:r>
              <a:rPr dirty="0"/>
              <a:t> • SQL query interface • </a:t>
            </a:r>
            <a:r>
              <a:rPr lang="en-US" dirty="0" smtClean="0"/>
              <a:t>Tableau</a:t>
            </a:r>
            <a:r>
              <a:rPr dirty="0" smtClean="0"/>
              <a:t> </a:t>
            </a:r>
            <a:r>
              <a:rPr dirty="0"/>
              <a:t>charts • Real-time updates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t>Impact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62400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70AD47"/>
                </a:solidFill>
              </a:defRPr>
            </a:pPr>
            <a:r>
              <a:rPr sz="2200" dirty="0"/>
              <a:t>Contributions:</a:t>
            </a:r>
          </a:p>
          <a:p>
            <a:pPr>
              <a:spcAft>
                <a:spcPts val="1000"/>
              </a:spcAft>
              <a:defRPr sz="1400"/>
            </a:pPr>
            <a:r>
              <a:rPr sz="2200" dirty="0"/>
              <a:t>✓ Scalable cloud-based data warehouse for road condition data</a:t>
            </a:r>
          </a:p>
          <a:p>
            <a:pPr>
              <a:spcAft>
                <a:spcPts val="1000"/>
              </a:spcAft>
              <a:defRPr sz="1400"/>
            </a:pPr>
            <a:r>
              <a:rPr sz="2200" dirty="0"/>
              <a:t>✓ Efficient ETL pipeline processing millions of images</a:t>
            </a:r>
          </a:p>
          <a:p>
            <a:pPr>
              <a:spcAft>
                <a:spcPts val="1000"/>
              </a:spcAft>
              <a:defRPr sz="1400"/>
            </a:pPr>
            <a:r>
              <a:rPr sz="2200" dirty="0"/>
              <a:t>✓ Interactive dashboard for infrastructure monitoring</a:t>
            </a:r>
          </a:p>
          <a:p>
            <a:pPr>
              <a:spcAft>
                <a:spcPts val="1000"/>
              </a:spcAft>
              <a:defRPr sz="1400"/>
            </a:pPr>
            <a:r>
              <a:rPr sz="2200" dirty="0"/>
              <a:t>✓ SQL interface for ad-hoc data exploration</a:t>
            </a:r>
          </a:p>
          <a:p>
            <a:pPr>
              <a:spcAft>
                <a:spcPts val="1000"/>
              </a:spcAft>
              <a:defRPr sz="1400"/>
            </a:pPr>
            <a:r>
              <a:rPr sz="2200" dirty="0"/>
              <a:t>✓ Export capabilities for ML training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1" y="1371600"/>
            <a:ext cx="3657599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rPr sz="2200" dirty="0"/>
              <a:t>Real-World Applications:</a:t>
            </a:r>
          </a:p>
          <a:p>
            <a:pPr>
              <a:spcAft>
                <a:spcPts val="1000"/>
              </a:spcAft>
              <a:defRPr sz="1500"/>
            </a:pPr>
            <a:r>
              <a:rPr sz="2200" dirty="0"/>
              <a:t>• Smart city infrastructure planning</a:t>
            </a:r>
          </a:p>
          <a:p>
            <a:pPr>
              <a:spcAft>
                <a:spcPts val="1000"/>
              </a:spcAft>
              <a:defRPr sz="1500"/>
            </a:pPr>
            <a:r>
              <a:rPr sz="2200" dirty="0"/>
              <a:t>• Predictive maintenance scheduling</a:t>
            </a:r>
          </a:p>
          <a:p>
            <a:pPr>
              <a:spcAft>
                <a:spcPts val="1000"/>
              </a:spcAft>
              <a:defRPr sz="1500"/>
            </a:pPr>
            <a:r>
              <a:rPr sz="2200" dirty="0"/>
              <a:t>• Insurance risk assessment</a:t>
            </a:r>
          </a:p>
          <a:p>
            <a:pPr>
              <a:spcAft>
                <a:spcPts val="1000"/>
              </a:spcAft>
              <a:defRPr sz="1500"/>
            </a:pPr>
            <a:r>
              <a:rPr sz="2200" dirty="0"/>
              <a:t>• ML model training pipelines</a:t>
            </a:r>
          </a:p>
          <a:p>
            <a:pPr>
              <a:spcAft>
                <a:spcPts val="1000"/>
              </a:spcAft>
              <a:defRPr sz="1500"/>
            </a:pPr>
            <a:r>
              <a:rPr sz="2200" dirty="0"/>
              <a:t>• Multi-city deployment potential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t>Next Steps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1" y="1534160"/>
            <a:ext cx="6654800" cy="422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4472C4"/>
                </a:solidFill>
              </a:defRPr>
            </a:pPr>
            <a:r>
              <a:rPr sz="2400" dirty="0"/>
              <a:t>Future Enhancements:</a:t>
            </a:r>
          </a:p>
          <a:p>
            <a:pPr>
              <a:spcAft>
                <a:spcPts val="1200"/>
              </a:spcAft>
              <a:defRPr sz="1700"/>
            </a:pPr>
            <a:r>
              <a:rPr sz="2400" dirty="0"/>
              <a:t>→ Real-time streaming ETL from ongoing data collection</a:t>
            </a:r>
          </a:p>
          <a:p>
            <a:pPr>
              <a:spcAft>
                <a:spcPts val="1200"/>
              </a:spcAft>
              <a:defRPr sz="1700"/>
            </a:pPr>
            <a:r>
              <a:rPr sz="2400" dirty="0"/>
              <a:t>→ Automated classification pipeline integration</a:t>
            </a:r>
          </a:p>
          <a:p>
            <a:pPr>
              <a:spcAft>
                <a:spcPts val="1200"/>
              </a:spcAft>
              <a:defRPr sz="1700"/>
            </a:pPr>
            <a:r>
              <a:rPr sz="2400" dirty="0"/>
              <a:t>→ Multi-city deployment (Indianapolis, other IN cities)</a:t>
            </a:r>
          </a:p>
          <a:p>
            <a:pPr>
              <a:spcAft>
                <a:spcPts val="1200"/>
              </a:spcAft>
              <a:defRPr sz="1700"/>
            </a:pPr>
            <a:r>
              <a:rPr sz="2400" dirty="0"/>
              <a:t>→ Advanced analytics: trend detection, severity scoring</a:t>
            </a:r>
          </a:p>
          <a:p>
            <a:pPr>
              <a:spcAft>
                <a:spcPts val="1200"/>
              </a:spcAft>
              <a:defRPr sz="1700"/>
            </a:pPr>
            <a:r>
              <a:rPr sz="2400" dirty="0"/>
              <a:t>→ Edge computing for on-device 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C69214"/>
                </a:solidFill>
              </a:defRPr>
            </a:pPr>
            <a: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70038"/>
            <a:ext cx="654304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/>
            </a:pPr>
            <a:r>
              <a:rPr sz="2400" dirty="0"/>
              <a:t>We would like to thank: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/>
              <a:t>• Mentors: </a:t>
            </a:r>
            <a:r>
              <a:rPr sz="2400" dirty="0" err="1"/>
              <a:t>Nikkhil</a:t>
            </a:r>
            <a:r>
              <a:rPr sz="2400" dirty="0"/>
              <a:t> </a:t>
            </a:r>
            <a:r>
              <a:rPr sz="2400" dirty="0" err="1"/>
              <a:t>Vijaya</a:t>
            </a:r>
            <a:r>
              <a:rPr sz="2400" dirty="0"/>
              <a:t> </a:t>
            </a:r>
            <a:r>
              <a:rPr sz="2400" dirty="0" err="1"/>
              <a:t>Sankar</a:t>
            </a:r>
            <a:r>
              <a:rPr sz="2400" dirty="0"/>
              <a:t> &amp; Mohammad Reza </a:t>
            </a:r>
            <a:r>
              <a:rPr sz="2400" dirty="0" err="1"/>
              <a:t>Jahanshahi</a:t>
            </a:r>
            <a:endParaRPr sz="2400" dirty="0"/>
          </a:p>
          <a:p>
            <a:pPr>
              <a:spcAft>
                <a:spcPts val="1200"/>
              </a:spcAft>
              <a:defRPr sz="1800"/>
            </a:pPr>
            <a:r>
              <a:rPr sz="2400" dirty="0"/>
              <a:t>• Purdue VIP Program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/>
              <a:t>• College of </a:t>
            </a:r>
            <a:r>
              <a:rPr sz="2400" dirty="0" smtClean="0"/>
              <a:t>Engineering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9214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53565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480</Words>
  <Application>Microsoft Office PowerPoint</Application>
  <PresentationFormat>On-screen Show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 Problem: Managing Massive Road Data</vt:lpstr>
      <vt:lpstr>Our Solution: Cloud Data Warehouse</vt:lpstr>
      <vt:lpstr>System Architecture</vt:lpstr>
      <vt:lpstr>ETL Data Pipeline</vt:lpstr>
      <vt:lpstr>Results: Data Volumes</vt:lpstr>
      <vt:lpstr>Query Performance Analysis</vt:lpstr>
      <vt:lpstr>Interactive Visualization Dashboard</vt:lpstr>
      <vt:lpstr>Impact &amp; Applications</vt:lpstr>
      <vt:lpstr>Next Steps &amp; Future Work</vt:lpstr>
      <vt:lpstr>Acknowledgments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tinnt.ict@gmail.com</cp:lastModifiedBy>
  <cp:revision>37</cp:revision>
  <dcterms:created xsi:type="dcterms:W3CDTF">2013-01-27T09:14:16Z</dcterms:created>
  <dcterms:modified xsi:type="dcterms:W3CDTF">2025-11-10T22:27:18Z</dcterms:modified>
  <cp:category/>
</cp:coreProperties>
</file>